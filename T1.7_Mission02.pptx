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D7F2E5-5DD5-F361-FFAD-0A8037D2081F}" v="5" dt="2026-10-19T09:11:40.271"/>
    <p1510:client id="{351CAFCC-6D47-5B88-9F14-B5B337D0247E}" v="122" dt="2026-10-19T09:30:07.229"/>
    <p1510:client id="{9523AF8B-F3A2-E2DE-E511-799C5B13239B}" v="239" dt="2026-10-19T09:29:52.114"/>
    <p1510:client id="{C17FDCB1-A762-C0EA-23F9-ABA4D2159D8B}" v="310" dt="2026-10-19T09:30:09.6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7C5DB61-6C3A-4981-9469-0B43B0347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E4DBBB2-09D9-4324-A4FA-9D81348E7F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74AB74D-3AC9-4D10-9728-34FA568CC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A20BE5C-CD94-478F-92C6-926AB255D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ACDA89C-08D2-4B58-98C5-F41EF2A4B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C97D476-429C-481A-8878-43A0B1FF9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1CCF6631-5626-4040-A688-8E5E20655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DCE28F95-8F6C-472F-ABB9-337A6523631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0701CBC-1E41-4E22-B042-A106D8FCB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390D90F-DEAA-4824-98F1-6E2B7E18C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rostokąt 51">
            <a:extLst>
              <a:ext uri="{FF2B5EF4-FFF2-40B4-BE49-F238E27FC236}">
                <a16:creationId xmlns:a16="http://schemas.microsoft.com/office/drawing/2014/main" id="{D1799887-A2E5-4B93-96BD-8666C6D07B84}"/>
              </a:ext>
            </a:extLst>
          </p:cNvPr>
          <p:cNvSpPr>
            <a:spLocks noGrp="1"/>
          </p:cNvSpPr>
          <p:nvPr/>
        </p:nvSpPr>
        <p:spPr>
          <a:xfrm>
            <a:off x="723900" y="400050"/>
            <a:ext cx="10668000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25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5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Resource Allocation Card — submit one slide</a:t>
            </a:r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19B80882-960E-4F2D-99A6-E1FBD6AF97FC}"/>
              </a:ext>
            </a:extLst>
          </p:cNvPr>
          <p:cNvSpPr>
            <a:spLocks noGrp="1"/>
          </p:cNvSpPr>
          <p:nvPr/>
        </p:nvSpPr>
        <p:spPr>
          <a:xfrm>
            <a:off x="723900" y="1143000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200" b="1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1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WHAT / HOW / FOR WHOM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953906F2-2844-4CEC-B0FF-6272E09679D6}"/>
              </a:ext>
            </a:extLst>
          </p:cNvPr>
          <p:cNvSpPr>
            <a:spLocks noGrp="1"/>
          </p:cNvSpPr>
          <p:nvPr/>
        </p:nvSpPr>
        <p:spPr>
          <a:xfrm>
            <a:off x="723900" y="1504950"/>
            <a:ext cx="2000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125" b="1">
                <a:solidFill>
                  <a:srgbClr val="5E728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125" b="1">
                <a:solidFill>
                  <a:srgbClr val="5E728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E7280"/>
                </a:solidFill>
                <a:latin typeface="DejaVu Sans"/>
                <a:ea typeface="DejaVu Sans"/>
                <a:cs typeface="DejaVu Sans"/>
              </a:rPr>
              <a:t>What will we produce?</a:t>
            </a: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A144EDC1-8AEF-485F-9F55-73E242EE69E9}"/>
              </a:ext>
            </a:extLst>
          </p:cNvPr>
          <p:cNvSpPr>
            <a:spLocks noGrp="1"/>
          </p:cNvSpPr>
          <p:nvPr/>
        </p:nvSpPr>
        <p:spPr>
          <a:xfrm>
            <a:off x="2762250" y="1771650"/>
            <a:ext cx="2714625" cy="19050"/>
          </a:xfrm>
          <a:prstGeom prst="rect">
            <a:avLst/>
          </a:prstGeom>
          <a:solidFill>
            <a:srgbClr val="D7E4E8"/>
          </a:solidFill>
          <a:ln w="0"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A4D8AB54-9360-4A4E-9503-98E6426A1B23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2000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90"/>
          </a:bodyPr>
          <a:lstStyle>
            <a:defPPr>
              <a:defRPr sz="1125" b="1">
                <a:solidFill>
                  <a:srgbClr val="5E728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125" b="1">
                <a:solidFill>
                  <a:srgbClr val="5E728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E7280"/>
                </a:solidFill>
                <a:latin typeface="DejaVu Sans"/>
                <a:ea typeface="DejaVu Sans"/>
                <a:cs typeface="DejaVu Sans"/>
              </a:rPr>
              <a:t>How will we produce it?</a:t>
            </a:r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BA40DD30-BFE5-40AF-ABFB-F64F268E3370}"/>
              </a:ext>
            </a:extLst>
          </p:cNvPr>
          <p:cNvSpPr>
            <a:spLocks noGrp="1"/>
          </p:cNvSpPr>
          <p:nvPr/>
        </p:nvSpPr>
        <p:spPr>
          <a:xfrm>
            <a:off x="2762250" y="2266950"/>
            <a:ext cx="2714625" cy="19050"/>
          </a:xfrm>
          <a:prstGeom prst="rect">
            <a:avLst/>
          </a:prstGeom>
          <a:solidFill>
            <a:srgbClr val="D7E4E8"/>
          </a:solidFill>
          <a:ln w="0"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DB0EC53B-18E0-4D2C-95E8-41E6DEBD388A}"/>
              </a:ext>
            </a:extLst>
          </p:cNvPr>
          <p:cNvSpPr>
            <a:spLocks noGrp="1"/>
          </p:cNvSpPr>
          <p:nvPr/>
        </p:nvSpPr>
        <p:spPr>
          <a:xfrm>
            <a:off x="723900" y="2495550"/>
            <a:ext cx="2000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3123"/>
          </a:bodyPr>
          <a:lstStyle>
            <a:defPPr>
              <a:defRPr sz="1125" b="1">
                <a:solidFill>
                  <a:srgbClr val="5E728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125" b="1">
                <a:solidFill>
                  <a:srgbClr val="5E728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E7280"/>
                </a:solidFill>
                <a:latin typeface="DejaVu Sans"/>
                <a:ea typeface="DejaVu Sans"/>
                <a:cs typeface="DejaVu Sans"/>
              </a:rPr>
              <a:t>For whom will we produce?</a:t>
            </a: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3A8D9BEE-A875-4B92-B8F4-FF96C03CB679}"/>
              </a:ext>
            </a:extLst>
          </p:cNvPr>
          <p:cNvSpPr>
            <a:spLocks noGrp="1"/>
          </p:cNvSpPr>
          <p:nvPr/>
        </p:nvSpPr>
        <p:spPr>
          <a:xfrm>
            <a:off x="2762250" y="2762250"/>
            <a:ext cx="2714625" cy="19050"/>
          </a:xfrm>
          <a:prstGeom prst="rect">
            <a:avLst/>
          </a:prstGeom>
          <a:solidFill>
            <a:srgbClr val="D7E4E8"/>
          </a:solidFill>
          <a:ln w="0"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210DA5DE-CE0A-4E2D-BF21-961B25ECC85F}"/>
              </a:ext>
            </a:extLst>
          </p:cNvPr>
          <p:cNvSpPr>
            <a:spLocks noGrp="1"/>
          </p:cNvSpPr>
          <p:nvPr/>
        </p:nvSpPr>
        <p:spPr>
          <a:xfrm>
            <a:off x="723900" y="3143250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200" b="1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1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BUDGET — TOTAL €100,000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E32B6DE9-7801-4E5A-ABB4-FCF02518E1F9}"/>
              </a:ext>
            </a:extLst>
          </p:cNvPr>
          <p:cNvSpPr>
            <a:spLocks noGrp="1"/>
          </p:cNvSpPr>
          <p:nvPr/>
        </p:nvSpPr>
        <p:spPr>
          <a:xfrm>
            <a:off x="723900" y="3495675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125" b="1">
                <a:solidFill>
                  <a:srgbClr val="5E728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125" b="1">
                <a:solidFill>
                  <a:srgbClr val="5E728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E7280"/>
                </a:solidFill>
                <a:latin typeface="DejaVu Sans"/>
                <a:ea typeface="DejaVu Sans"/>
                <a:cs typeface="DejaVu Sans"/>
              </a:rPr>
              <a:t>Use 1</a:t>
            </a: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6FBCF726-A88F-450C-AA9A-FDDCF046B3EC}"/>
              </a:ext>
            </a:extLst>
          </p:cNvPr>
          <p:cNvSpPr>
            <a:spLocks noGrp="1"/>
          </p:cNvSpPr>
          <p:nvPr/>
        </p:nvSpPr>
        <p:spPr>
          <a:xfrm>
            <a:off x="1857375" y="3743325"/>
            <a:ext cx="2238375" cy="19050"/>
          </a:xfrm>
          <a:prstGeom prst="rect">
            <a:avLst/>
          </a:prstGeom>
          <a:solidFill>
            <a:srgbClr val="D7E4E8"/>
          </a:solidFill>
          <a:ln w="0"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1E51553B-B08F-423E-918B-CC8C0E51BACE}"/>
              </a:ext>
            </a:extLst>
          </p:cNvPr>
          <p:cNvSpPr>
            <a:spLocks noGrp="1"/>
          </p:cNvSpPr>
          <p:nvPr/>
        </p:nvSpPr>
        <p:spPr>
          <a:xfrm>
            <a:off x="4238625" y="3495675"/>
            <a:ext cx="285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>
            <a:defPPr>
              <a:defRPr sz="12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€</a:t>
            </a:r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8FED3DBA-E99F-4F62-AD32-377353347C1D}"/>
              </a:ext>
            </a:extLst>
          </p:cNvPr>
          <p:cNvSpPr>
            <a:spLocks noGrp="1"/>
          </p:cNvSpPr>
          <p:nvPr/>
        </p:nvSpPr>
        <p:spPr>
          <a:xfrm>
            <a:off x="4476750" y="3743325"/>
            <a:ext cx="1000125" cy="19050"/>
          </a:xfrm>
          <a:prstGeom prst="rect">
            <a:avLst/>
          </a:prstGeom>
          <a:solidFill>
            <a:srgbClr val="D7E4E8"/>
          </a:solidFill>
          <a:ln w="0"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3BDE1300-9D5A-4AB7-A356-CA46890AB0AE}"/>
              </a:ext>
            </a:extLst>
          </p:cNvPr>
          <p:cNvSpPr>
            <a:spLocks noGrp="1"/>
          </p:cNvSpPr>
          <p:nvPr/>
        </p:nvSpPr>
        <p:spPr>
          <a:xfrm>
            <a:off x="723900" y="3952875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125" b="1">
                <a:solidFill>
                  <a:srgbClr val="5E728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125" b="1">
                <a:solidFill>
                  <a:srgbClr val="5E728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E7280"/>
                </a:solidFill>
                <a:latin typeface="DejaVu Sans"/>
                <a:ea typeface="DejaVu Sans"/>
                <a:cs typeface="DejaVu Sans"/>
              </a:rPr>
              <a:t>Use 2</a:t>
            </a:r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6F9BBFC4-43A0-4305-9E9E-DC5F1C648069}"/>
              </a:ext>
            </a:extLst>
          </p:cNvPr>
          <p:cNvSpPr>
            <a:spLocks noGrp="1"/>
          </p:cNvSpPr>
          <p:nvPr/>
        </p:nvSpPr>
        <p:spPr>
          <a:xfrm>
            <a:off x="1857375" y="4200525"/>
            <a:ext cx="2238375" cy="19050"/>
          </a:xfrm>
          <a:prstGeom prst="rect">
            <a:avLst/>
          </a:prstGeom>
          <a:solidFill>
            <a:srgbClr val="D7E4E8"/>
          </a:solidFill>
          <a:ln w="0"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6" name="Prostokąt 15">
            <a:extLst>
              <a:ext uri="{FF2B5EF4-FFF2-40B4-BE49-F238E27FC236}">
                <a16:creationId xmlns:a16="http://schemas.microsoft.com/office/drawing/2014/main" id="{34B8DB45-7E20-424F-AF45-A0C7779CBEF3}"/>
              </a:ext>
            </a:extLst>
          </p:cNvPr>
          <p:cNvSpPr>
            <a:spLocks noGrp="1"/>
          </p:cNvSpPr>
          <p:nvPr/>
        </p:nvSpPr>
        <p:spPr>
          <a:xfrm>
            <a:off x="4238625" y="3952875"/>
            <a:ext cx="285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>
            <a:defPPr>
              <a:defRPr sz="12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€</a:t>
            </a:r>
          </a:p>
        </p:txBody>
      </p:sp>
      <p:sp>
        <p:nvSpPr>
          <p:cNvPr id="17" name="Prostokąt 16">
            <a:extLst>
              <a:ext uri="{FF2B5EF4-FFF2-40B4-BE49-F238E27FC236}">
                <a16:creationId xmlns:a16="http://schemas.microsoft.com/office/drawing/2014/main" id="{6ED90509-EBFF-452A-B5C0-91067D3DCF8E}"/>
              </a:ext>
            </a:extLst>
          </p:cNvPr>
          <p:cNvSpPr>
            <a:spLocks noGrp="1"/>
          </p:cNvSpPr>
          <p:nvPr/>
        </p:nvSpPr>
        <p:spPr>
          <a:xfrm>
            <a:off x="4476750" y="4200525"/>
            <a:ext cx="1000125" cy="19050"/>
          </a:xfrm>
          <a:prstGeom prst="rect">
            <a:avLst/>
          </a:prstGeom>
          <a:solidFill>
            <a:srgbClr val="D7E4E8"/>
          </a:solidFill>
          <a:ln w="0"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8" name="Prostokąt 17">
            <a:extLst>
              <a:ext uri="{FF2B5EF4-FFF2-40B4-BE49-F238E27FC236}">
                <a16:creationId xmlns:a16="http://schemas.microsoft.com/office/drawing/2014/main" id="{4FC8563D-8DC2-44EF-B5A3-D47D8839099A}"/>
              </a:ext>
            </a:extLst>
          </p:cNvPr>
          <p:cNvSpPr>
            <a:spLocks noGrp="1"/>
          </p:cNvSpPr>
          <p:nvPr/>
        </p:nvSpPr>
        <p:spPr>
          <a:xfrm>
            <a:off x="723900" y="4410075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125" b="1">
                <a:solidFill>
                  <a:srgbClr val="5E728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125" b="1">
                <a:solidFill>
                  <a:srgbClr val="5E728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E7280"/>
                </a:solidFill>
                <a:latin typeface="DejaVu Sans"/>
                <a:ea typeface="DejaVu Sans"/>
                <a:cs typeface="DejaVu Sans"/>
              </a:rPr>
              <a:t>Use 3</a:t>
            </a:r>
          </a:p>
        </p:txBody>
      </p:sp>
      <p:sp>
        <p:nvSpPr>
          <p:cNvPr id="20" name="Prostokąt 19">
            <a:extLst>
              <a:ext uri="{FF2B5EF4-FFF2-40B4-BE49-F238E27FC236}">
                <a16:creationId xmlns:a16="http://schemas.microsoft.com/office/drawing/2014/main" id="{F8AB52EA-1005-4CF7-98D9-A51160C5B8CB}"/>
              </a:ext>
            </a:extLst>
          </p:cNvPr>
          <p:cNvSpPr>
            <a:spLocks noGrp="1"/>
          </p:cNvSpPr>
          <p:nvPr/>
        </p:nvSpPr>
        <p:spPr>
          <a:xfrm>
            <a:off x="4238625" y="4410075"/>
            <a:ext cx="285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>
            <a:defPPr>
              <a:defRPr sz="12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€</a:t>
            </a:r>
          </a:p>
        </p:txBody>
      </p:sp>
      <p:sp>
        <p:nvSpPr>
          <p:cNvPr id="22" name="Prostokąt 21">
            <a:extLst>
              <a:ext uri="{FF2B5EF4-FFF2-40B4-BE49-F238E27FC236}">
                <a16:creationId xmlns:a16="http://schemas.microsoft.com/office/drawing/2014/main" id="{1353224D-248E-41D4-A814-E6AEC83FBE7A}"/>
              </a:ext>
            </a:extLst>
          </p:cNvPr>
          <p:cNvSpPr>
            <a:spLocks noGrp="1"/>
          </p:cNvSpPr>
          <p:nvPr/>
        </p:nvSpPr>
        <p:spPr>
          <a:xfrm>
            <a:off x="723900" y="4867275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357"/>
          </a:bodyPr>
          <a:lstStyle>
            <a:defPPr>
              <a:defRPr sz="1125" b="1">
                <a:solidFill>
                  <a:srgbClr val="5E728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125" b="1">
                <a:solidFill>
                  <a:srgbClr val="5E728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E7280"/>
                </a:solidFill>
                <a:latin typeface="DejaVu Sans"/>
                <a:ea typeface="DejaVu Sans"/>
                <a:cs typeface="DejaVu Sans"/>
              </a:rPr>
              <a:t>Cash reserve</a:t>
            </a:r>
          </a:p>
        </p:txBody>
      </p:sp>
      <p:sp>
        <p:nvSpPr>
          <p:cNvPr id="23" name="Prostokąt 22">
            <a:extLst>
              <a:ext uri="{FF2B5EF4-FFF2-40B4-BE49-F238E27FC236}">
                <a16:creationId xmlns:a16="http://schemas.microsoft.com/office/drawing/2014/main" id="{C1BE3FED-7AB5-455D-90C8-1021C2122C1E}"/>
              </a:ext>
            </a:extLst>
          </p:cNvPr>
          <p:cNvSpPr>
            <a:spLocks noGrp="1"/>
          </p:cNvSpPr>
          <p:nvPr/>
        </p:nvSpPr>
        <p:spPr>
          <a:xfrm>
            <a:off x="1857375" y="5114925"/>
            <a:ext cx="2238375" cy="19050"/>
          </a:xfrm>
          <a:prstGeom prst="rect">
            <a:avLst/>
          </a:prstGeom>
          <a:solidFill>
            <a:srgbClr val="D7E4E8"/>
          </a:solidFill>
          <a:ln w="0"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24" name="Prostokąt 23">
            <a:extLst>
              <a:ext uri="{FF2B5EF4-FFF2-40B4-BE49-F238E27FC236}">
                <a16:creationId xmlns:a16="http://schemas.microsoft.com/office/drawing/2014/main" id="{D3C157C1-CA9E-4518-84D4-5E3FB3488AD8}"/>
              </a:ext>
            </a:extLst>
          </p:cNvPr>
          <p:cNvSpPr>
            <a:spLocks noGrp="1"/>
          </p:cNvSpPr>
          <p:nvPr/>
        </p:nvSpPr>
        <p:spPr>
          <a:xfrm>
            <a:off x="4238625" y="4867275"/>
            <a:ext cx="285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>
            <a:defPPr>
              <a:defRPr sz="12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€</a:t>
            </a:r>
          </a:p>
        </p:txBody>
      </p:sp>
      <p:sp>
        <p:nvSpPr>
          <p:cNvPr id="25" name="Prostokąt 24">
            <a:extLst>
              <a:ext uri="{FF2B5EF4-FFF2-40B4-BE49-F238E27FC236}">
                <a16:creationId xmlns:a16="http://schemas.microsoft.com/office/drawing/2014/main" id="{DAC48BBA-0E1C-4A06-AC65-3C7261FC8294}"/>
              </a:ext>
            </a:extLst>
          </p:cNvPr>
          <p:cNvSpPr>
            <a:spLocks noGrp="1"/>
          </p:cNvSpPr>
          <p:nvPr/>
        </p:nvSpPr>
        <p:spPr>
          <a:xfrm>
            <a:off x="4476750" y="5114925"/>
            <a:ext cx="1000125" cy="19050"/>
          </a:xfrm>
          <a:prstGeom prst="rect">
            <a:avLst/>
          </a:prstGeom>
          <a:solidFill>
            <a:srgbClr val="D7E4E8"/>
          </a:solidFill>
          <a:ln w="0"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26" name="Prostokąt 25">
            <a:extLst>
              <a:ext uri="{FF2B5EF4-FFF2-40B4-BE49-F238E27FC236}">
                <a16:creationId xmlns:a16="http://schemas.microsoft.com/office/drawing/2014/main" id="{3B927909-159A-4948-A9E4-21368C372634}"/>
              </a:ext>
            </a:extLst>
          </p:cNvPr>
          <p:cNvSpPr>
            <a:spLocks noGrp="1"/>
          </p:cNvSpPr>
          <p:nvPr/>
        </p:nvSpPr>
        <p:spPr>
          <a:xfrm>
            <a:off x="6191250" y="114300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200" b="1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1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5 EMPLOYEES — PRIMARY ROLES</a:t>
            </a:r>
          </a:p>
        </p:txBody>
      </p:sp>
      <p:sp>
        <p:nvSpPr>
          <p:cNvPr id="27" name="Owal 26">
            <a:extLst>
              <a:ext uri="{FF2B5EF4-FFF2-40B4-BE49-F238E27FC236}">
                <a16:creationId xmlns:a16="http://schemas.microsoft.com/office/drawing/2014/main" id="{F3C98F8C-B2E1-4616-B8D9-4D9591220D00}"/>
              </a:ext>
            </a:extLst>
          </p:cNvPr>
          <p:cNvSpPr>
            <a:spLocks noGrp="1"/>
          </p:cNvSpPr>
          <p:nvPr/>
        </p:nvSpPr>
        <p:spPr>
          <a:xfrm>
            <a:off x="6191250" y="1524000"/>
            <a:ext cx="304800" cy="304800"/>
          </a:xfrm>
          <a:prstGeom prst="ellipse">
            <a:avLst/>
          </a:prstGeom>
          <a:solidFill>
            <a:srgbClr val="102A43"/>
          </a:solidFill>
          <a:ln w="0"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28" name="Prostokąt 27">
            <a:extLst>
              <a:ext uri="{FF2B5EF4-FFF2-40B4-BE49-F238E27FC236}">
                <a16:creationId xmlns:a16="http://schemas.microsoft.com/office/drawing/2014/main" id="{A811CD48-2023-433C-8072-E0190FD4195F}"/>
              </a:ext>
            </a:extLst>
          </p:cNvPr>
          <p:cNvSpPr>
            <a:spLocks noGrp="1"/>
          </p:cNvSpPr>
          <p:nvPr/>
        </p:nvSpPr>
        <p:spPr>
          <a:xfrm>
            <a:off x="6191250" y="1524000"/>
            <a:ext cx="3048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9" name="Prostokąt 28">
            <a:extLst>
              <a:ext uri="{FF2B5EF4-FFF2-40B4-BE49-F238E27FC236}">
                <a16:creationId xmlns:a16="http://schemas.microsoft.com/office/drawing/2014/main" id="{E1D35742-D9D5-46B2-B191-F2F341837C1A}"/>
              </a:ext>
            </a:extLst>
          </p:cNvPr>
          <p:cNvSpPr>
            <a:spLocks noGrp="1"/>
          </p:cNvSpPr>
          <p:nvPr/>
        </p:nvSpPr>
        <p:spPr>
          <a:xfrm>
            <a:off x="6667500" y="1781175"/>
            <a:ext cx="4095750" cy="19050"/>
          </a:xfrm>
          <a:prstGeom prst="rect">
            <a:avLst/>
          </a:prstGeom>
          <a:solidFill>
            <a:srgbClr val="D7E4E8"/>
          </a:solidFill>
          <a:ln w="0"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30" name="Owal 29">
            <a:extLst>
              <a:ext uri="{FF2B5EF4-FFF2-40B4-BE49-F238E27FC236}">
                <a16:creationId xmlns:a16="http://schemas.microsoft.com/office/drawing/2014/main" id="{5F25BE3A-65B4-4E6A-AA8D-5B3D38D033E5}"/>
              </a:ext>
            </a:extLst>
          </p:cNvPr>
          <p:cNvSpPr>
            <a:spLocks noGrp="1"/>
          </p:cNvSpPr>
          <p:nvPr/>
        </p:nvSpPr>
        <p:spPr>
          <a:xfrm>
            <a:off x="6191250" y="1981200"/>
            <a:ext cx="304800" cy="304800"/>
          </a:xfrm>
          <a:prstGeom prst="ellipse">
            <a:avLst/>
          </a:prstGeom>
          <a:solidFill>
            <a:srgbClr val="102A43"/>
          </a:solidFill>
          <a:ln w="0"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31" name="Prostokąt 30">
            <a:extLst>
              <a:ext uri="{FF2B5EF4-FFF2-40B4-BE49-F238E27FC236}">
                <a16:creationId xmlns:a16="http://schemas.microsoft.com/office/drawing/2014/main" id="{B2F7CC26-7127-4A63-96AC-E1C2B39D286E}"/>
              </a:ext>
            </a:extLst>
          </p:cNvPr>
          <p:cNvSpPr>
            <a:spLocks noGrp="1"/>
          </p:cNvSpPr>
          <p:nvPr/>
        </p:nvSpPr>
        <p:spPr>
          <a:xfrm>
            <a:off x="6191250" y="1981200"/>
            <a:ext cx="3048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32" name="Prostokąt 31">
            <a:extLst>
              <a:ext uri="{FF2B5EF4-FFF2-40B4-BE49-F238E27FC236}">
                <a16:creationId xmlns:a16="http://schemas.microsoft.com/office/drawing/2014/main" id="{DEC29F31-D1CC-4EA3-A374-3FB90A91871E}"/>
              </a:ext>
            </a:extLst>
          </p:cNvPr>
          <p:cNvSpPr>
            <a:spLocks noGrp="1"/>
          </p:cNvSpPr>
          <p:nvPr/>
        </p:nvSpPr>
        <p:spPr>
          <a:xfrm>
            <a:off x="6667500" y="2238375"/>
            <a:ext cx="4095750" cy="19050"/>
          </a:xfrm>
          <a:prstGeom prst="rect">
            <a:avLst/>
          </a:prstGeom>
          <a:solidFill>
            <a:srgbClr val="D7E4E8"/>
          </a:solidFill>
          <a:ln w="0"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33" name="Owal 32">
            <a:extLst>
              <a:ext uri="{FF2B5EF4-FFF2-40B4-BE49-F238E27FC236}">
                <a16:creationId xmlns:a16="http://schemas.microsoft.com/office/drawing/2014/main" id="{E67E49C2-DA31-4C31-AD17-A057FE6D6276}"/>
              </a:ext>
            </a:extLst>
          </p:cNvPr>
          <p:cNvSpPr>
            <a:spLocks noGrp="1"/>
          </p:cNvSpPr>
          <p:nvPr/>
        </p:nvSpPr>
        <p:spPr>
          <a:xfrm>
            <a:off x="6191250" y="2438400"/>
            <a:ext cx="304800" cy="304800"/>
          </a:xfrm>
          <a:prstGeom prst="ellipse">
            <a:avLst/>
          </a:prstGeom>
          <a:solidFill>
            <a:srgbClr val="102A43"/>
          </a:solidFill>
          <a:ln w="0"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34" name="Prostokąt 33">
            <a:extLst>
              <a:ext uri="{FF2B5EF4-FFF2-40B4-BE49-F238E27FC236}">
                <a16:creationId xmlns:a16="http://schemas.microsoft.com/office/drawing/2014/main" id="{AF0DBD29-2A1D-439E-93C5-00BFDAE5E412}"/>
              </a:ext>
            </a:extLst>
          </p:cNvPr>
          <p:cNvSpPr>
            <a:spLocks noGrp="1"/>
          </p:cNvSpPr>
          <p:nvPr/>
        </p:nvSpPr>
        <p:spPr>
          <a:xfrm>
            <a:off x="6191250" y="2438400"/>
            <a:ext cx="3048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Prostokąt 34">
            <a:extLst>
              <a:ext uri="{FF2B5EF4-FFF2-40B4-BE49-F238E27FC236}">
                <a16:creationId xmlns:a16="http://schemas.microsoft.com/office/drawing/2014/main" id="{AA5561E4-809D-4024-9417-BEB87123811B}"/>
              </a:ext>
            </a:extLst>
          </p:cNvPr>
          <p:cNvSpPr>
            <a:spLocks noGrp="1"/>
          </p:cNvSpPr>
          <p:nvPr/>
        </p:nvSpPr>
        <p:spPr>
          <a:xfrm>
            <a:off x="6667500" y="2695575"/>
            <a:ext cx="4095750" cy="19050"/>
          </a:xfrm>
          <a:prstGeom prst="rect">
            <a:avLst/>
          </a:prstGeom>
          <a:solidFill>
            <a:srgbClr val="D7E4E8"/>
          </a:solidFill>
          <a:ln w="0"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36" name="Owal 35">
            <a:extLst>
              <a:ext uri="{FF2B5EF4-FFF2-40B4-BE49-F238E27FC236}">
                <a16:creationId xmlns:a16="http://schemas.microsoft.com/office/drawing/2014/main" id="{8BFB5584-891C-4CC7-B5F9-616534525FA5}"/>
              </a:ext>
            </a:extLst>
          </p:cNvPr>
          <p:cNvSpPr>
            <a:spLocks noGrp="1"/>
          </p:cNvSpPr>
          <p:nvPr/>
        </p:nvSpPr>
        <p:spPr>
          <a:xfrm>
            <a:off x="6191250" y="2895600"/>
            <a:ext cx="304800" cy="304800"/>
          </a:xfrm>
          <a:prstGeom prst="ellipse">
            <a:avLst/>
          </a:prstGeom>
          <a:solidFill>
            <a:srgbClr val="102A43"/>
          </a:solidFill>
          <a:ln w="0"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37" name="Prostokąt 36">
            <a:extLst>
              <a:ext uri="{FF2B5EF4-FFF2-40B4-BE49-F238E27FC236}">
                <a16:creationId xmlns:a16="http://schemas.microsoft.com/office/drawing/2014/main" id="{08E5F3F9-7348-427A-A986-9A98C109E12F}"/>
              </a:ext>
            </a:extLst>
          </p:cNvPr>
          <p:cNvSpPr>
            <a:spLocks noGrp="1"/>
          </p:cNvSpPr>
          <p:nvPr/>
        </p:nvSpPr>
        <p:spPr>
          <a:xfrm>
            <a:off x="6191250" y="2895600"/>
            <a:ext cx="3048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38" name="Prostokąt 37">
            <a:extLst>
              <a:ext uri="{FF2B5EF4-FFF2-40B4-BE49-F238E27FC236}">
                <a16:creationId xmlns:a16="http://schemas.microsoft.com/office/drawing/2014/main" id="{E116E752-2171-4105-883E-AF6091174474}"/>
              </a:ext>
            </a:extLst>
          </p:cNvPr>
          <p:cNvSpPr>
            <a:spLocks noGrp="1"/>
          </p:cNvSpPr>
          <p:nvPr/>
        </p:nvSpPr>
        <p:spPr>
          <a:xfrm>
            <a:off x="6667500" y="3152775"/>
            <a:ext cx="4095750" cy="19050"/>
          </a:xfrm>
          <a:prstGeom prst="rect">
            <a:avLst/>
          </a:prstGeom>
          <a:solidFill>
            <a:srgbClr val="D7E4E8"/>
          </a:solidFill>
          <a:ln w="0"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39" name="Owal 38">
            <a:extLst>
              <a:ext uri="{FF2B5EF4-FFF2-40B4-BE49-F238E27FC236}">
                <a16:creationId xmlns:a16="http://schemas.microsoft.com/office/drawing/2014/main" id="{DF406DF8-8967-4F92-B5D9-FB6F10C45964}"/>
              </a:ext>
            </a:extLst>
          </p:cNvPr>
          <p:cNvSpPr>
            <a:spLocks noGrp="1"/>
          </p:cNvSpPr>
          <p:nvPr/>
        </p:nvSpPr>
        <p:spPr>
          <a:xfrm>
            <a:off x="6191250" y="3352800"/>
            <a:ext cx="304800" cy="304800"/>
          </a:xfrm>
          <a:prstGeom prst="ellipse">
            <a:avLst/>
          </a:prstGeom>
          <a:solidFill>
            <a:srgbClr val="102A43"/>
          </a:solidFill>
          <a:ln w="0"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40" name="Prostokąt 39">
            <a:extLst>
              <a:ext uri="{FF2B5EF4-FFF2-40B4-BE49-F238E27FC236}">
                <a16:creationId xmlns:a16="http://schemas.microsoft.com/office/drawing/2014/main" id="{8C8687D4-2A71-4345-9E3E-52C2A1C56B37}"/>
              </a:ext>
            </a:extLst>
          </p:cNvPr>
          <p:cNvSpPr>
            <a:spLocks noGrp="1"/>
          </p:cNvSpPr>
          <p:nvPr/>
        </p:nvSpPr>
        <p:spPr>
          <a:xfrm>
            <a:off x="6191250" y="3352800"/>
            <a:ext cx="3048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1" name="Prostokąt 40">
            <a:extLst>
              <a:ext uri="{FF2B5EF4-FFF2-40B4-BE49-F238E27FC236}">
                <a16:creationId xmlns:a16="http://schemas.microsoft.com/office/drawing/2014/main" id="{E53C03DF-07C9-4A70-947B-F5CECB53E9CE}"/>
              </a:ext>
            </a:extLst>
          </p:cNvPr>
          <p:cNvSpPr>
            <a:spLocks noGrp="1"/>
          </p:cNvSpPr>
          <p:nvPr/>
        </p:nvSpPr>
        <p:spPr>
          <a:xfrm>
            <a:off x="6667500" y="3609975"/>
            <a:ext cx="4095750" cy="19050"/>
          </a:xfrm>
          <a:prstGeom prst="rect">
            <a:avLst/>
          </a:prstGeom>
          <a:solidFill>
            <a:srgbClr val="D7E4E8"/>
          </a:solidFill>
          <a:ln w="0"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42" name="Prostokąt 41">
            <a:extLst>
              <a:ext uri="{FF2B5EF4-FFF2-40B4-BE49-F238E27FC236}">
                <a16:creationId xmlns:a16="http://schemas.microsoft.com/office/drawing/2014/main" id="{F6D41A44-F3A9-4D9A-AD8D-AFD96D962217}"/>
              </a:ext>
            </a:extLst>
          </p:cNvPr>
          <p:cNvSpPr>
            <a:spLocks noGrp="1"/>
          </p:cNvSpPr>
          <p:nvPr/>
        </p:nvSpPr>
        <p:spPr>
          <a:xfrm>
            <a:off x="6191250" y="3924300"/>
            <a:ext cx="21907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111"/>
          </a:bodyPr>
          <a:lstStyle>
            <a:defPPr>
              <a:defRPr sz="1125" b="1">
                <a:solidFill>
                  <a:srgbClr val="FF6B5E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125" b="1">
                <a:solidFill>
                  <a:srgbClr val="FF6B5E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6B5E"/>
                </a:solidFill>
                <a:latin typeface="DejaVu Sans"/>
                <a:ea typeface="DejaVu Sans"/>
                <a:cs typeface="DejaVu Sans"/>
              </a:rPr>
              <a:t>OPPORTUNITY COST</a:t>
            </a:r>
          </a:p>
        </p:txBody>
      </p:sp>
      <p:sp>
        <p:nvSpPr>
          <p:cNvPr id="43" name="Prostokąt 42">
            <a:extLst>
              <a:ext uri="{FF2B5EF4-FFF2-40B4-BE49-F238E27FC236}">
                <a16:creationId xmlns:a16="http://schemas.microsoft.com/office/drawing/2014/main" id="{FB364D3C-3391-43EB-9490-DABCDDAE31D6}"/>
              </a:ext>
            </a:extLst>
          </p:cNvPr>
          <p:cNvSpPr>
            <a:spLocks noGrp="1"/>
          </p:cNvSpPr>
          <p:nvPr/>
        </p:nvSpPr>
        <p:spPr>
          <a:xfrm>
            <a:off x="8429625" y="3924300"/>
            <a:ext cx="2524125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0982"/>
          </a:bodyPr>
          <a:lstStyle>
            <a:defPPr>
              <a:defRPr sz="1050" b="1">
                <a:solidFill>
                  <a:srgbClr val="5E728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1">
                <a:solidFill>
                  <a:srgbClr val="5E7280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E7280"/>
                </a:solidFill>
                <a:latin typeface="DejaVu Sans"/>
                <a:ea typeface="DejaVu Sans"/>
                <a:cs typeface="DejaVu Sans"/>
              </a:rPr>
              <a:t>Best rejected alternative + benefit given up</a:t>
            </a:r>
          </a:p>
        </p:txBody>
      </p:sp>
      <p:sp>
        <p:nvSpPr>
          <p:cNvPr id="44" name="Prostokąt: zaokrąglone rogi 43">
            <a:extLst>
              <a:ext uri="{FF2B5EF4-FFF2-40B4-BE49-F238E27FC236}">
                <a16:creationId xmlns:a16="http://schemas.microsoft.com/office/drawing/2014/main" id="{44588910-D3A5-47EB-82D7-B0E5E81551AE}"/>
              </a:ext>
            </a:extLst>
          </p:cNvPr>
          <p:cNvSpPr>
            <a:spLocks noGrp="1"/>
          </p:cNvSpPr>
          <p:nvPr/>
        </p:nvSpPr>
        <p:spPr>
          <a:xfrm>
            <a:off x="6191250" y="4257675"/>
            <a:ext cx="476250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7E4E8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45" name="Prostokąt 44">
            <a:extLst>
              <a:ext uri="{FF2B5EF4-FFF2-40B4-BE49-F238E27FC236}">
                <a16:creationId xmlns:a16="http://schemas.microsoft.com/office/drawing/2014/main" id="{AC23132B-93A5-4900-B6CD-44BCB8873E78}"/>
              </a:ext>
            </a:extLst>
          </p:cNvPr>
          <p:cNvSpPr>
            <a:spLocks noGrp="1"/>
          </p:cNvSpPr>
          <p:nvPr/>
        </p:nvSpPr>
        <p:spPr>
          <a:xfrm>
            <a:off x="6191250" y="502920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125" b="1">
                <a:solidFill>
                  <a:srgbClr val="FF6B5E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125" b="1">
                <a:solidFill>
                  <a:srgbClr val="FF6B5E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6B5E"/>
                </a:solidFill>
                <a:latin typeface="DejaVu Sans"/>
                <a:ea typeface="DejaVu Sans"/>
                <a:cs typeface="DejaVu Sans"/>
              </a:rPr>
              <a:t>MACROECONOMIC RISK + RESPONSE</a:t>
            </a:r>
          </a:p>
        </p:txBody>
      </p:sp>
      <p:sp>
        <p:nvSpPr>
          <p:cNvPr id="46" name="Prostokąt: zaokrąglone rogi 45">
            <a:extLst>
              <a:ext uri="{FF2B5EF4-FFF2-40B4-BE49-F238E27FC236}">
                <a16:creationId xmlns:a16="http://schemas.microsoft.com/office/drawing/2014/main" id="{51AA25AE-96AF-4E3A-98D2-10B81DAF51CE}"/>
              </a:ext>
            </a:extLst>
          </p:cNvPr>
          <p:cNvSpPr>
            <a:spLocks noGrp="1"/>
          </p:cNvSpPr>
          <p:nvPr/>
        </p:nvSpPr>
        <p:spPr>
          <a:xfrm>
            <a:off x="6191250" y="5312570"/>
            <a:ext cx="5595937" cy="711992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7E4E8"/>
            </a:solidFill>
          </a:ln>
        </p:spPr>
        <p:txBody>
          <a:bodyPr lIns="91440" tIns="45720" rIns="91440" bIns="45720"/>
          <a:lstStyle/>
          <a:p>
            <a:r>
              <a:rPr lang="pl-PL" sz="1000" b="1">
                <a:ea typeface="+mn-lt"/>
                <a:cs typeface="+mn-lt"/>
              </a:rPr>
              <a:t>Risk:</a:t>
            </a:r>
            <a:r>
              <a:rPr lang="pl-PL" sz="1000">
                <a:ea typeface="+mn-lt"/>
                <a:cs typeface="+mn-lt"/>
              </a:rPr>
              <a:t> High inflation, surging labor costs, and raw material price pressures in the restaurant sector leading to tightened IT budgets.</a:t>
            </a:r>
          </a:p>
          <a:p>
            <a:r>
              <a:rPr lang="pl-PL" sz="1000" b="1">
                <a:ea typeface="+mn-lt"/>
                <a:cs typeface="+mn-lt"/>
              </a:rPr>
              <a:t>Response:</a:t>
            </a:r>
            <a:r>
              <a:rPr lang="pl-PL" sz="1000">
                <a:ea typeface="+mn-lt"/>
                <a:cs typeface="+mn-lt"/>
              </a:rPr>
              <a:t> Implement a low-entry-cost SaaS subscription model delivering immediate, measurable ROI through automated food waste reduction and labor hour savings</a:t>
            </a:r>
            <a:endParaRPr lang="pl-PL"/>
          </a:p>
        </p:txBody>
      </p:sp>
      <p:sp>
        <p:nvSpPr>
          <p:cNvPr id="47" name="Prostokąt: zaokrąglone rogi 46">
            <a:extLst>
              <a:ext uri="{FF2B5EF4-FFF2-40B4-BE49-F238E27FC236}">
                <a16:creationId xmlns:a16="http://schemas.microsoft.com/office/drawing/2014/main" id="{573704BB-A0D9-4E72-AF11-FEBEF1ADFD2E}"/>
              </a:ext>
            </a:extLst>
          </p:cNvPr>
          <p:cNvSpPr>
            <a:spLocks noGrp="1"/>
          </p:cNvSpPr>
          <p:nvPr/>
        </p:nvSpPr>
        <p:spPr>
          <a:xfrm>
            <a:off x="723900" y="5619750"/>
            <a:ext cx="4762500" cy="685800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0"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48" name="Prostokąt 47">
            <a:extLst>
              <a:ext uri="{FF2B5EF4-FFF2-40B4-BE49-F238E27FC236}">
                <a16:creationId xmlns:a16="http://schemas.microsoft.com/office/drawing/2014/main" id="{102586FB-E360-4701-B0B5-059C2D373950}"/>
              </a:ext>
            </a:extLst>
          </p:cNvPr>
          <p:cNvSpPr>
            <a:spLocks noGrp="1"/>
          </p:cNvSpPr>
          <p:nvPr/>
        </p:nvSpPr>
        <p:spPr>
          <a:xfrm>
            <a:off x="1000125" y="5724525"/>
            <a:ext cx="4191000" cy="4762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3518" lnSpcReduction="10000"/>
          </a:bodyPr>
          <a:lstStyle>
            <a:def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File: </a:t>
            </a:r>
            <a:r>
              <a:rPr lang="pl-PL"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T1.7_Mission02</a:t>
            </a:r>
            <a:endParaRPr sz="1350" b="1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pl-PL"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Gorzynski, Obrębski, Datta, Ellard</a:t>
            </a:r>
            <a:endParaRPr sz="1350" b="1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9" name="Prostokąt 48">
            <a:extLst>
              <a:ext uri="{FF2B5EF4-FFF2-40B4-BE49-F238E27FC236}">
                <a16:creationId xmlns:a16="http://schemas.microsoft.com/office/drawing/2014/main" id="{8240C132-B60F-488B-B6A9-D9BD9B0AF24D}"/>
              </a:ext>
            </a:extLst>
          </p:cNvPr>
          <p:cNvSpPr>
            <a:spLocks noGrp="1"/>
          </p:cNvSpPr>
          <p:nvPr/>
        </p:nvSpPr>
        <p:spPr>
          <a:xfrm>
            <a:off x="6191250" y="6057900"/>
            <a:ext cx="4762500" cy="276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850"/>
          </a:bodyPr>
          <a:lstStyle>
            <a:defPPr>
              <a:defRPr sz="12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Assessment: 10 Academic Points  ·  Company Value: -3% to +5%</a:t>
            </a:r>
          </a:p>
        </p:txBody>
      </p:sp>
      <p:sp>
        <p:nvSpPr>
          <p:cNvPr id="50" name="Prostokąt 49">
            <a:extLst>
              <a:ext uri="{FF2B5EF4-FFF2-40B4-BE49-F238E27FC236}">
                <a16:creationId xmlns:a16="http://schemas.microsoft.com/office/drawing/2014/main" id="{60B7D4D8-2CEC-4127-B6C1-F84CF64E9E77}"/>
              </a:ext>
            </a:extLst>
          </p:cNvPr>
          <p:cNvSpPr>
            <a:spLocks noGrp="1"/>
          </p:cNvSpPr>
          <p:nvPr/>
        </p:nvSpPr>
        <p:spPr>
          <a:xfrm>
            <a:off x="6191250" y="634365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>
            <a:defPPr>
              <a:defRPr sz="1050" b="0">
                <a:solidFill>
                  <a:srgbClr val="5E728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5E728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E7280"/>
                </a:solidFill>
                <a:latin typeface="DejaVu Sans"/>
                <a:ea typeface="DejaVu Sans"/>
                <a:cs typeface="DejaVu Sans"/>
              </a:rPr>
              <a:t>Totals 2  ·  economic reasoning 4  ·  risk response 2  ·  clarity 2</a:t>
            </a:r>
          </a:p>
        </p:txBody>
      </p:sp>
      <p:sp>
        <p:nvSpPr>
          <p:cNvPr id="51" name="Prostokąt 50">
            <a:extLst>
              <a:ext uri="{FF2B5EF4-FFF2-40B4-BE49-F238E27FC236}">
                <a16:creationId xmlns:a16="http://schemas.microsoft.com/office/drawing/2014/main" id="{3AED5EE4-4176-491E-8D87-DC31D4D4F9A8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0000"/>
          </a:bodyPr>
          <a:lstStyle>
            <a:defPPr>
              <a:defRPr sz="750" b="1">
                <a:solidFill>
                  <a:srgbClr val="5E728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750" b="1">
                <a:solidFill>
                  <a:srgbClr val="5E728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5E728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55" name="pole tekstowe 54">
            <a:extLst>
              <a:ext uri="{FF2B5EF4-FFF2-40B4-BE49-F238E27FC236}">
                <a16:creationId xmlns:a16="http://schemas.microsoft.com/office/drawing/2014/main" id="{DC97FBD3-748A-1168-0A46-CF7173A4D1B2}"/>
              </a:ext>
            </a:extLst>
          </p:cNvPr>
          <p:cNvSpPr txBox="1"/>
          <p:nvPr/>
        </p:nvSpPr>
        <p:spPr>
          <a:xfrm>
            <a:off x="4476044" y="482223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l-PL">
                <a:ea typeface="+mn-lt"/>
                <a:cs typeface="+mn-lt"/>
              </a:rPr>
              <a:t>15,000</a:t>
            </a:r>
            <a:endParaRPr lang="pl-PL"/>
          </a:p>
        </p:txBody>
      </p:sp>
      <p:sp>
        <p:nvSpPr>
          <p:cNvPr id="56" name="pole tekstowe 55">
            <a:extLst>
              <a:ext uri="{FF2B5EF4-FFF2-40B4-BE49-F238E27FC236}">
                <a16:creationId xmlns:a16="http://schemas.microsoft.com/office/drawing/2014/main" id="{244D057C-AB0E-71D1-0CE5-FC7DB0669205}"/>
              </a:ext>
            </a:extLst>
          </p:cNvPr>
          <p:cNvSpPr txBox="1"/>
          <p:nvPr/>
        </p:nvSpPr>
        <p:spPr>
          <a:xfrm>
            <a:off x="2603092" y="1303155"/>
            <a:ext cx="3600448" cy="5386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900">
                <a:ea typeface="+mn-lt"/>
                <a:cs typeface="+mn-lt"/>
              </a:rPr>
              <a:t>An API-first data aggregation and integration middleware connecting restaurant POS systems with delivery platforms (Pyszne.pl, Uber Eats) to automate order flow and analyze waste analytics.</a:t>
            </a:r>
            <a:r>
              <a:rPr lang="pl-PL" sz="1100">
                <a:ea typeface="+mn-lt"/>
                <a:cs typeface="+mn-lt"/>
              </a:rPr>
              <a:t> </a:t>
            </a:r>
            <a:endParaRPr lang="pl-PL" sz="1100"/>
          </a:p>
        </p:txBody>
      </p:sp>
      <p:sp>
        <p:nvSpPr>
          <p:cNvPr id="60" name="pole tekstowe 59">
            <a:extLst>
              <a:ext uri="{FF2B5EF4-FFF2-40B4-BE49-F238E27FC236}">
                <a16:creationId xmlns:a16="http://schemas.microsoft.com/office/drawing/2014/main" id="{A724728D-90C1-0E7C-9DF4-3FBB63F64F27}"/>
              </a:ext>
            </a:extLst>
          </p:cNvPr>
          <p:cNvSpPr txBox="1"/>
          <p:nvPr/>
        </p:nvSpPr>
        <p:spPr>
          <a:xfrm>
            <a:off x="4478156" y="4349325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/>
              <a:t>15,000</a:t>
            </a:r>
          </a:p>
          <a:p>
            <a:pPr algn="l"/>
            <a:endParaRPr lang="pl-PL"/>
          </a:p>
        </p:txBody>
      </p:sp>
      <p:sp>
        <p:nvSpPr>
          <p:cNvPr id="61" name="pole tekstowe 60">
            <a:extLst>
              <a:ext uri="{FF2B5EF4-FFF2-40B4-BE49-F238E27FC236}">
                <a16:creationId xmlns:a16="http://schemas.microsoft.com/office/drawing/2014/main" id="{925E06A8-E9D2-AF63-71FF-A0EAC0A5DAE9}"/>
              </a:ext>
            </a:extLst>
          </p:cNvPr>
          <p:cNvSpPr txBox="1"/>
          <p:nvPr/>
        </p:nvSpPr>
        <p:spPr>
          <a:xfrm>
            <a:off x="1514010" y="3954069"/>
            <a:ext cx="345816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1200">
                <a:ea typeface="+mn-lt"/>
                <a:cs typeface="+mn-lt"/>
              </a:rPr>
              <a:t>Pilot implementation &amp; on-site testing</a:t>
            </a:r>
            <a:endParaRPr lang="pl-PL" sz="1200"/>
          </a:p>
        </p:txBody>
      </p:sp>
      <p:sp>
        <p:nvSpPr>
          <p:cNvPr id="57" name="pole tekstowe 56">
            <a:extLst>
              <a:ext uri="{FF2B5EF4-FFF2-40B4-BE49-F238E27FC236}">
                <a16:creationId xmlns:a16="http://schemas.microsoft.com/office/drawing/2014/main" id="{AAD422CD-E8BE-3899-F49E-8518513E0D91}"/>
              </a:ext>
            </a:extLst>
          </p:cNvPr>
          <p:cNvSpPr txBox="1"/>
          <p:nvPr/>
        </p:nvSpPr>
        <p:spPr>
          <a:xfrm>
            <a:off x="2606144" y="1860428"/>
            <a:ext cx="3421854" cy="5078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900">
                <a:ea typeface="+mn-lt"/>
                <a:cs typeface="+mn-lt"/>
              </a:rPr>
              <a:t>Agile cloud software development (SaaS model) using cloud server infrastructure (AWS/GCP), API connectors, and automated ML pipelines for predictive waste analysis.</a:t>
            </a:r>
            <a:endParaRPr lang="pl-PL" sz="900"/>
          </a:p>
        </p:txBody>
      </p:sp>
      <p:sp>
        <p:nvSpPr>
          <p:cNvPr id="65" name="pole tekstowe 64">
            <a:extLst>
              <a:ext uri="{FF2B5EF4-FFF2-40B4-BE49-F238E27FC236}">
                <a16:creationId xmlns:a16="http://schemas.microsoft.com/office/drawing/2014/main" id="{30A670BA-E168-B617-C84C-643B1C2FCD35}"/>
              </a:ext>
            </a:extLst>
          </p:cNvPr>
          <p:cNvSpPr txBox="1"/>
          <p:nvPr/>
        </p:nvSpPr>
        <p:spPr>
          <a:xfrm>
            <a:off x="1515552" y="4395347"/>
            <a:ext cx="2743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1200">
                <a:ea typeface="+mn-lt"/>
                <a:cs typeface="+mn-lt"/>
              </a:rPr>
              <a:t>Regulatory compliance, Legal &amp; IP</a:t>
            </a:r>
            <a:endParaRPr lang="pl-PL" sz="12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B9BE9E-8EDB-1515-4A9D-038DD3749261}"/>
              </a:ext>
            </a:extLst>
          </p:cNvPr>
          <p:cNvSpPr txBox="1"/>
          <p:nvPr/>
        </p:nvSpPr>
        <p:spPr>
          <a:xfrm>
            <a:off x="6667597" y="1319938"/>
            <a:ext cx="3790708" cy="5078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 dirty="0">
                <a:ea typeface="+mn-lt"/>
                <a:cs typeface="+mn-lt"/>
              </a:rPr>
              <a:t>The Lead Integration Engineer builds the </a:t>
            </a:r>
            <a:r>
              <a:rPr lang="en-US" sz="900" dirty="0" err="1">
                <a:ea typeface="+mn-lt"/>
                <a:cs typeface="+mn-lt"/>
              </a:rPr>
              <a:t>POSbistro-Deliverect</a:t>
            </a:r>
            <a:r>
              <a:rPr lang="en-US" sz="900" dirty="0">
                <a:ea typeface="+mn-lt"/>
                <a:cs typeface="+mn-lt"/>
              </a:rPr>
              <a:t> connector and will scale the infrastructure to support future POS systems and multi-aggregator integrations.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66" name="pole tekstowe 65">
            <a:extLst>
              <a:ext uri="{FF2B5EF4-FFF2-40B4-BE49-F238E27FC236}">
                <a16:creationId xmlns:a16="http://schemas.microsoft.com/office/drawing/2014/main" id="{FE7D177E-B9B4-9246-F6A3-47EFA07332FD}"/>
              </a:ext>
            </a:extLst>
          </p:cNvPr>
          <p:cNvSpPr txBox="1"/>
          <p:nvPr/>
        </p:nvSpPr>
        <p:spPr>
          <a:xfrm>
            <a:off x="1518672" y="3483908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1200">
                <a:ea typeface="+mn-lt"/>
                <a:cs typeface="+mn-lt"/>
              </a:rPr>
              <a:t>Cloud architecture &amp; API data infrastructure</a:t>
            </a:r>
            <a:endParaRPr lang="pl-PL" sz="1200"/>
          </a:p>
        </p:txBody>
      </p:sp>
      <p:sp>
        <p:nvSpPr>
          <p:cNvPr id="67" name="pole tekstowe 66">
            <a:extLst>
              <a:ext uri="{FF2B5EF4-FFF2-40B4-BE49-F238E27FC236}">
                <a16:creationId xmlns:a16="http://schemas.microsoft.com/office/drawing/2014/main" id="{B3791855-8BB8-993A-DF73-75912F564B66}"/>
              </a:ext>
            </a:extLst>
          </p:cNvPr>
          <p:cNvSpPr txBox="1"/>
          <p:nvPr/>
        </p:nvSpPr>
        <p:spPr>
          <a:xfrm>
            <a:off x="2602182" y="2459428"/>
            <a:ext cx="340994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900">
                <a:ea typeface="+mn-lt"/>
                <a:cs typeface="+mn-lt"/>
              </a:rPr>
              <a:t>Multi-unit restaurant chains and franchise management groups operating in urban markets.</a:t>
            </a:r>
            <a:endParaRPr lang="pl-PL" sz="900"/>
          </a:p>
        </p:txBody>
      </p:sp>
      <p:sp>
        <p:nvSpPr>
          <p:cNvPr id="68" name="pole tekstowe 67">
            <a:extLst>
              <a:ext uri="{FF2B5EF4-FFF2-40B4-BE49-F238E27FC236}">
                <a16:creationId xmlns:a16="http://schemas.microsoft.com/office/drawing/2014/main" id="{64998F81-403C-65DA-756A-07B0DE40D461}"/>
              </a:ext>
            </a:extLst>
          </p:cNvPr>
          <p:cNvSpPr txBox="1"/>
          <p:nvPr/>
        </p:nvSpPr>
        <p:spPr>
          <a:xfrm>
            <a:off x="4474662" y="389399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l-PL"/>
              <a:t>25,000</a:t>
            </a:r>
          </a:p>
        </p:txBody>
      </p:sp>
      <p:sp>
        <p:nvSpPr>
          <p:cNvPr id="69" name="pole tekstowe 68">
            <a:extLst>
              <a:ext uri="{FF2B5EF4-FFF2-40B4-BE49-F238E27FC236}">
                <a16:creationId xmlns:a16="http://schemas.microsoft.com/office/drawing/2014/main" id="{95EDE916-A6C0-E2DF-8B53-44FF09F150DC}"/>
              </a:ext>
            </a:extLst>
          </p:cNvPr>
          <p:cNvSpPr txBox="1"/>
          <p:nvPr/>
        </p:nvSpPr>
        <p:spPr>
          <a:xfrm>
            <a:off x="4470606" y="344092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l-PL"/>
              <a:t>45,000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DE85A1C-5F4B-6A2E-AE96-C83478377041}"/>
              </a:ext>
            </a:extLst>
          </p:cNvPr>
          <p:cNvSpPr txBox="1"/>
          <p:nvPr/>
        </p:nvSpPr>
        <p:spPr>
          <a:xfrm>
            <a:off x="6669266" y="1797436"/>
            <a:ext cx="3903415" cy="5078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 dirty="0">
                <a:ea typeface="+mn-lt"/>
                <a:cs typeface="+mn-lt"/>
              </a:rPr>
              <a:t>The Data Engineer manages current data acquisition and analytics to minimize food waste, and will evolve these systems into predictive AI models for long-term supply chain forecasting.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EC8BD4F-BEF6-C89F-C224-E1F1F534C0F1}"/>
              </a:ext>
            </a:extLst>
          </p:cNvPr>
          <p:cNvSpPr txBox="1"/>
          <p:nvPr/>
        </p:nvSpPr>
        <p:spPr>
          <a:xfrm>
            <a:off x="6669076" y="2250762"/>
            <a:ext cx="4106440" cy="5078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 dirty="0">
                <a:ea typeface="+mn-lt"/>
                <a:cs typeface="+mn-lt"/>
              </a:rPr>
              <a:t>The Product Manager translates market guidelines into core features that eliminate delivery delays, and will lead future product expansions based on ongoing restaurant management needs.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5809C2C-1BB9-2A5A-717B-B1C02F039C1A}"/>
              </a:ext>
            </a:extLst>
          </p:cNvPr>
          <p:cNvSpPr txBox="1"/>
          <p:nvPr/>
        </p:nvSpPr>
        <p:spPr>
          <a:xfrm>
            <a:off x="6666922" y="2708813"/>
            <a:ext cx="4121300" cy="10662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>
                <a:ea typeface="+mn-lt"/>
                <a:cs typeface="+mn-lt"/>
              </a:rPr>
              <a:t>The Customer Success Manager handles the initial 90-day multi-unit partner program, and will transition into driving long-term client onboarding, post-rollout retention, and ongoing account expansion.</a:t>
            </a:r>
            <a:endParaRPr lang="en-US">
              <a:ea typeface="+mn-lt"/>
              <a:cs typeface="+mn-lt"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92CE3DF-C296-6269-9568-ED62A3073C1C}"/>
              </a:ext>
            </a:extLst>
          </p:cNvPr>
          <p:cNvSpPr txBox="1"/>
          <p:nvPr/>
        </p:nvSpPr>
        <p:spPr>
          <a:xfrm>
            <a:off x="6665845" y="3177222"/>
            <a:ext cx="4121110" cy="5210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>
                <a:ea typeface="+mn-lt"/>
                <a:cs typeface="+mn-lt"/>
              </a:rPr>
              <a:t>The Business Development Lead oversees initial commercial partnerships and operations, and will direct future market expansion, enterprise scaling, and strategic alliance growth.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76" name="pole tekstowe 75">
            <a:extLst>
              <a:ext uri="{FF2B5EF4-FFF2-40B4-BE49-F238E27FC236}">
                <a16:creationId xmlns:a16="http://schemas.microsoft.com/office/drawing/2014/main" id="{B3C245B1-9870-3012-FC65-416694EAB247}"/>
              </a:ext>
            </a:extLst>
          </p:cNvPr>
          <p:cNvSpPr txBox="1"/>
          <p:nvPr/>
        </p:nvSpPr>
        <p:spPr>
          <a:xfrm>
            <a:off x="6195930" y="4233549"/>
            <a:ext cx="4746978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1000">
                <a:ea typeface="+mn-lt"/>
                <a:cs typeface="+mn-lt"/>
              </a:rPr>
              <a:t>Developing an all-in-one, proprietary on-premise POS and restaurant management system. We forfeit direct core POS licensing revenue, payment processing fees, and full ownership of the restaurant's primary fiscal register</a:t>
            </a:r>
          </a:p>
        </p:txBody>
      </p:sp>
      <p:sp>
        <p:nvSpPr>
          <p:cNvPr id="77" name="pole tekstowe 76">
            <a:extLst>
              <a:ext uri="{FF2B5EF4-FFF2-40B4-BE49-F238E27FC236}">
                <a16:creationId xmlns:a16="http://schemas.microsoft.com/office/drawing/2014/main" id="{B205BE1D-F087-2304-24AD-63E9C32EA8C6}"/>
              </a:ext>
            </a:extLst>
          </p:cNvPr>
          <p:cNvSpPr txBox="1"/>
          <p:nvPr/>
        </p:nvSpPr>
        <p:spPr>
          <a:xfrm>
            <a:off x="1625273" y="4722326"/>
            <a:ext cx="276201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1200">
                <a:ea typeface="+mn-lt"/>
                <a:cs typeface="+mn-lt"/>
              </a:rPr>
              <a:t>unexpected maintenance lags, server cost surges, or pilot deployment delays</a:t>
            </a:r>
            <a:endParaRPr lang="pl-PL" sz="1200"/>
          </a:p>
        </p:txBody>
      </p:sp>
    </p:spTree>
    <p:extLst>
      <p:ext uri="{BB962C8B-B14F-4D97-AF65-F5344CB8AC3E}">
        <p14:creationId xmlns:p14="http://schemas.microsoft.com/office/powerpoint/2010/main" val="58542875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revision>86</cp:revision>
  <dcterms:created xsi:type="dcterms:W3CDTF">2026-10-08T09:12:02Z</dcterms:created>
  <dcterms:modified xsi:type="dcterms:W3CDTF">2026-10-19T09:32:24Z</dcterms:modified>
</cp:coreProperties>
</file>